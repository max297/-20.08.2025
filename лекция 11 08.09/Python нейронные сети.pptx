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4709DBC-6D3B-4CBC-B246-3ED6C77D457E}">
  <a:tblStyle styleId="{64709DBC-6D3B-4CBC-B246-3ED6C77D457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Lato-regular.fntdata"/><Relationship Id="rId16" Type="http://schemas.openxmlformats.org/officeDocument/2006/relationships/font" Target="fonts/Montserrat-boldItalic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Lat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La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c8fdd9bad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c8fdd9bad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7c8fdd9bad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7c8fdd9bad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c8fdd9bad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7c8fdd9bad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c8fdd9bad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7c8fdd9bad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c8fdd9bad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c8fdd9bad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Python нейронные сети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Фреймворк TensorFlow — это относительно простой инструмент, который позволяет быстро создавать нейросети любой сложности. </a:t>
            </a:r>
            <a:endParaRPr/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9013" y="2088175"/>
            <a:ext cx="5065974" cy="284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Виды слоев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Dense (Полносвязные) слои- Основной строительный блок нейронных сетей, полное соединение между всеми нейронами предыдущего и текущего слоя.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Сверточные слои (CNN)- Обнаружение локальных паттернов в данных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Рекуррентные слои (RNN)- Обработка последовательностей (текст, временные ряды)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Слои нормализации-Стабилизация обучения, ускорение сходимости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Embedding слои-Преобразование категориальных данных в векторы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Reshape слои-Изменение формы данных между слоями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Оптимайзеры</a:t>
            </a:r>
            <a:endParaRPr/>
          </a:p>
        </p:txBody>
      </p:sp>
      <p:graphicFrame>
        <p:nvGraphicFramePr>
          <p:cNvPr id="154" name="Google Shape;154;p16"/>
          <p:cNvGraphicFramePr/>
          <p:nvPr/>
        </p:nvGraphicFramePr>
        <p:xfrm>
          <a:off x="1243200" y="999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{64709DBC-6D3B-4CBC-B246-3ED6C77D457E}</a:tableStyleId>
              </a:tblPr>
              <a:tblGrid>
                <a:gridCol w="1481800"/>
                <a:gridCol w="1481800"/>
                <a:gridCol w="1481800"/>
                <a:gridCol w="1481800"/>
                <a:gridCol w="1481800"/>
              </a:tblGrid>
              <a:tr h="393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solidFill>
                            <a:schemeClr val="lt1"/>
                          </a:solidFill>
                        </a:rPr>
                        <a:t>Оптимизатор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solidFill>
                            <a:schemeClr val="lt1"/>
                          </a:solidFill>
                        </a:rPr>
                        <a:t>Скорость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solidFill>
                            <a:schemeClr val="lt1"/>
                          </a:solidFill>
                        </a:rPr>
                        <a:t>Память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solidFill>
                            <a:schemeClr val="lt1"/>
                          </a:solidFill>
                        </a:rPr>
                        <a:t>Устойчивость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solidFill>
                            <a:schemeClr val="lt1"/>
                          </a:solidFill>
                        </a:rPr>
                        <a:t>Применение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29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solidFill>
                            <a:schemeClr val="lt1"/>
                          </a:solidFill>
                        </a:rPr>
                        <a:t>SGD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Медленная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Низкая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Высокая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Точная настройка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29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solidFill>
                            <a:schemeClr val="lt1"/>
                          </a:solidFill>
                        </a:rPr>
                        <a:t>SGD + Momentum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Средняя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Низкая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Высокая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Computer Vision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29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solidFill>
                            <a:schemeClr val="lt1"/>
                          </a:solidFill>
                        </a:rPr>
                        <a:t>Adam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Быстрая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Средняя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Средняя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Общее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29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solidFill>
                            <a:schemeClr val="lt1"/>
                          </a:solidFill>
                        </a:rPr>
                        <a:t>RMSprop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Быстрая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Средняя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Высокая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RNN, Reinforcement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09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solidFill>
                            <a:schemeClr val="lt1"/>
                          </a:solidFill>
                        </a:rPr>
                        <a:t>Adagrad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Средняя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Высокая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Низкая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Sparse data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09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solidFill>
                            <a:schemeClr val="lt1"/>
                          </a:solidFill>
                        </a:rPr>
                        <a:t>AdamW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Быстрая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Средняя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Высокая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Transformers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Потеря</a:t>
            </a:r>
            <a:endParaRPr/>
          </a:p>
        </p:txBody>
      </p:sp>
      <p:sp>
        <p:nvSpPr>
          <p:cNvPr id="160" name="Google Shape;160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Mean Squared Error (MSE)-Для задач регрессии, предсказание непрерывных значений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Mean Absolute Error (MAE)-Регрессия, менее чувствительна к выбросам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Binary Crossentropy-Бинарная классификация (2 класса)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Categorical Crossentropy-Многоклассовая классификация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Процесс обучения</a:t>
            </a:r>
            <a:endParaRPr/>
          </a:p>
        </p:txBody>
      </p:sp>
      <p:sp>
        <p:nvSpPr>
          <p:cNvPr id="166" name="Google Shape;166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history = model.fit(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   X_train, y_train,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   validation_data=(X_val, y_val),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   epochs=100,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   batch_size=32,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   callbacks=[early_stopping, reduce_lr],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   verbose=1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